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f82efb78a4146" /><Relationship Type="http://schemas.openxmlformats.org/officeDocument/2006/relationships/extended-properties" Target="/docProps/app.xml" Id="R98ecc3116d6e4a00" /><Relationship Type="http://schemas.openxmlformats.org/officeDocument/2006/relationships/officeDocument" Target="/ppt/presentation.xml" Id="Ra628fcf655be47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45f218d304c8f"/>
  </p:sldMasterIdLst>
  <p:notesMasterIdLst>
    <p:notesMasterId xmlns:r="http://schemas.openxmlformats.org/officeDocument/2006/relationships" r:id="R5eb048bfe3e74e55"/>
  </p:notesMasterIdLst>
  <p:sldIdLst>
    <p:sldId xmlns:r="http://schemas.openxmlformats.org/officeDocument/2006/relationships" id="256" r:id="R6e3c1c666fc64f6c"/>
    <p:sldId xmlns:r="http://schemas.openxmlformats.org/officeDocument/2006/relationships" id="257" r:id="Rb7d534ce9ae04924"/>
    <p:sldId xmlns:r="http://schemas.openxmlformats.org/officeDocument/2006/relationships" id="258" r:id="R8c807e689bd840c0"/>
    <p:sldId xmlns:r="http://schemas.openxmlformats.org/officeDocument/2006/relationships" id="259" r:id="R4f7a512a99914540"/>
    <p:sldId xmlns:r="http://schemas.openxmlformats.org/officeDocument/2006/relationships" id="260" r:id="R1aefd07c997948ce"/>
    <p:sldId xmlns:r="http://schemas.openxmlformats.org/officeDocument/2006/relationships" id="261" r:id="Ra14a4225ff454ef2"/>
    <p:sldId xmlns:r="http://schemas.openxmlformats.org/officeDocument/2006/relationships" id="262" r:id="R2407867bb10a4a24"/>
    <p:sldId xmlns:r="http://schemas.openxmlformats.org/officeDocument/2006/relationships" id="263" r:id="Rf2f898dc9b0a46f7"/>
    <p:sldId xmlns:r="http://schemas.openxmlformats.org/officeDocument/2006/relationships" id="264" r:id="Rac0b814f5da842ab"/>
    <p:sldId xmlns:r="http://schemas.openxmlformats.org/officeDocument/2006/relationships" id="265" r:id="R1519df6d4c1544cb"/>
    <p:sldId xmlns:r="http://schemas.openxmlformats.org/officeDocument/2006/relationships" id="266" r:id="Rf838864269f446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a5081013f4594" /><Relationship Type="http://schemas.openxmlformats.org/officeDocument/2006/relationships/slideMaster" Target="/ppt/slideMasters/slideMaster1.xml" Id="Rab345f218d304c8f" /><Relationship Type="http://schemas.openxmlformats.org/officeDocument/2006/relationships/notesMaster" Target="/ppt/notesMasters/notesMaster1.xml" Id="R5eb048bfe3e74e55" /><Relationship Type="http://schemas.openxmlformats.org/officeDocument/2006/relationships/presProps" Target="/ppt/presProps.xml" Id="R23eba5adc5dc4f50" /><Relationship Type="http://schemas.openxmlformats.org/officeDocument/2006/relationships/tableStyles" Target="/ppt/tableStyles.xml" Id="Ra9b9268ebcba47bd" /><Relationship Type="http://schemas.openxmlformats.org/officeDocument/2006/relationships/slide" Target="/ppt/slides/slide1.xml" Id="R6e3c1c666fc64f6c" /><Relationship Type="http://schemas.openxmlformats.org/officeDocument/2006/relationships/slide" Target="/ppt/slides/slide2.xml" Id="Rb7d534ce9ae04924" /><Relationship Type="http://schemas.openxmlformats.org/officeDocument/2006/relationships/slide" Target="/ppt/slides/slide3.xml" Id="R8c807e689bd840c0" /><Relationship Type="http://schemas.openxmlformats.org/officeDocument/2006/relationships/slide" Target="/ppt/slides/slide4.xml" Id="R4f7a512a99914540" /><Relationship Type="http://schemas.openxmlformats.org/officeDocument/2006/relationships/slide" Target="/ppt/slides/slide5.xml" Id="R1aefd07c997948ce" /><Relationship Type="http://schemas.openxmlformats.org/officeDocument/2006/relationships/slide" Target="/ppt/slides/slide6.xml" Id="Ra14a4225ff454ef2" /><Relationship Type="http://schemas.openxmlformats.org/officeDocument/2006/relationships/slide" Target="/ppt/slides/slide7.xml" Id="R2407867bb10a4a24" /><Relationship Type="http://schemas.openxmlformats.org/officeDocument/2006/relationships/slide" Target="/ppt/slides/slide8.xml" Id="Rf2f898dc9b0a46f7" /><Relationship Type="http://schemas.openxmlformats.org/officeDocument/2006/relationships/slide" Target="/ppt/slides/slide9.xml" Id="Rac0b814f5da842ab" /><Relationship Type="http://schemas.openxmlformats.org/officeDocument/2006/relationships/slide" Target="/ppt/slides/slide10.xml" Id="R1519df6d4c1544cb" /><Relationship Type="http://schemas.openxmlformats.org/officeDocument/2006/relationships/slide" Target="/ppt/slides/slide11.xml" Id="Rf838864269f446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2682e2e0d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d79cf77dc4000" /><Relationship Type="http://schemas.openxmlformats.org/officeDocument/2006/relationships/notesMaster" Target="/ppt/notesMasters/notesMaster1.xml" Id="Rf47ebc0656c7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3598add6b6490f" /><Relationship Type="http://schemas.openxmlformats.org/officeDocument/2006/relationships/notesMaster" Target="/ppt/notesMasters/notesMaster1.xml" Id="R781e3b00d79149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a4d5a1ffc4b8e" /><Relationship Type="http://schemas.openxmlformats.org/officeDocument/2006/relationships/notesMaster" Target="/ppt/notesMasters/notesMaster1.xml" Id="R9310b05389b9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acad457504fb3" /><Relationship Type="http://schemas.openxmlformats.org/officeDocument/2006/relationships/notesMaster" Target="/ppt/notesMasters/notesMaster1.xml" Id="R2bb954e28f88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0c4940ec14332" /><Relationship Type="http://schemas.openxmlformats.org/officeDocument/2006/relationships/notesMaster" Target="/ppt/notesMasters/notesMaster1.xml" Id="R253fcb21ed4944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5fbb29f7045ec" /><Relationship Type="http://schemas.openxmlformats.org/officeDocument/2006/relationships/notesMaster" Target="/ppt/notesMasters/notesMaster1.xml" Id="R1f690dd82b8f4a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b55d12a4b04c5e" /><Relationship Type="http://schemas.openxmlformats.org/officeDocument/2006/relationships/notesMaster" Target="/ppt/notesMasters/notesMaster1.xml" Id="R5bd98d4c95804d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02af724bdf41bf" /><Relationship Type="http://schemas.openxmlformats.org/officeDocument/2006/relationships/notesMaster" Target="/ppt/notesMasters/notesMaster1.xml" Id="Rdc92f60c24d4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3806880667498f" /><Relationship Type="http://schemas.openxmlformats.org/officeDocument/2006/relationships/notesMaster" Target="/ppt/notesMasters/notesMaster1.xml" Id="Rc434a0375f09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b7afcbdd204144" /><Relationship Type="http://schemas.openxmlformats.org/officeDocument/2006/relationships/notesMaster" Target="/ppt/notesMasters/notesMaster1.xml" Id="Rb6990b0e072244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9806c94664443f" /><Relationship Type="http://schemas.openxmlformats.org/officeDocument/2006/relationships/notesMaster" Target="/ppt/notesMasters/notesMaster1.xml" Id="Rd08a73f8b469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时间：0:00—0:15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各位老师好，我的毕业设计是《基于Spark的学习行为分析与个性化资源推荐系统设计与实现》。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资料依据：v1.1-defense-ready / 本科毕业设计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封面装饰来源：内置imagegen工具本轮生成，仅用于视觉装饰，不代表实际设备或数据。</a:t>
            </a:r>
          </a:p>
          <a:p xmlns:a="http://schemas.openxmlformats.org/drawingml/2006/main">
            <a:r>
              <a:t>操作：0:00—0:15只读以上开场第一句，第2页续讲，不重复自我介绍。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时间：0:15—0:30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项目针对学习记录分散、资源选择缺少依据的问题，将课程学习、行为采集、离线分析和结果展示连接起来。下面我通过学生端和管理员端展示这个流程。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资料依据：依据：README.md、docs/defense-seven-minute-speech.md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操作：0:15—0:30接续第1页，讲项目问题与演示安排，不再重复开场第一句。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时间：0:30—1:15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这里是学生首页，可以查看账号角色和兴趣标签。进入学习资源后，当前展示五门正式课程，涵盖Spark、Python、数据库和Hadoop基础，每门课程有五个章节。</a:t>
            </a:r>
          </a:p>
          <a:p xmlns:a="http://schemas.openxmlformats.org/drawingml/2006/main">
            <a:r>
              <a:t>操作：学生首页确认身份，再进入学习资源。不要在投影中输入或显示密码。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资料依据：真实截图：outputs/login-experience/login-desktop.png（2026-10-23）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时间：1:15—2:00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学习页面提供视频、教学目标、代码示例和练习。这里以PySpark的筛选与列转换章节为例，展示视频与教学内容如何配合。练习在本地环境完成，平台没有自动评分功能。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课程、打开章节和播放视频时，系统会记录相应操作。章节需要学生手动确认完成，视频结束不会自动判定完成。课程进度以章节记录为准，全部章节完成才算整门课程完成。开始学习但尚未完成章节时，进度为百分之零是正常状态。</a:t>
            </a:r>
          </a:p>
          <a:p xmlns:a="http://schemas.openxmlformats.org/drawingml/2006/main">
            <a:r>
              <a:t>截图为Python机器学习课程历史真实页面局部，展示布局与教材视频，不能用于证明当前进度；现场可按清单选PySpark第2章。严格零新增演示使用本图，不进入课程页或播放。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资料依据：真实截图：outputs/course-learning-visual-refresh/desktop.png（2026-10-23）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第4页照读提示：本页是Python机器学习基础课程在2026-10-23的真实截图，只展示学习页布局。现场视频以PySpark1069第2章筛选与列转换为例，文件chapter_007.mp4；两者不是同一课程。零新增演示不声称已现场播放PySpark。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时间：2:00—3:00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这一页把用户画像和推荐结果放在一起，方便解释推荐依据。画像展示兴趣分布、行为次数和学习情况。当前账号的兴趣主要集中在Python和Spark，既参考显式设置，也参考已有学习行为。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批次记录了章节浏览一百零八次、视频播放一百五十六次，以及两个已完成章节。这里的播放次数不等于观看时长。账号开始了五门正式课程，但还没有全部完成其中任何一门，所以课程完成率为百分之零。历史完成操作次数与当前完成课程数分别保留，不混为同一个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资料依据：依据：outputs/formal-course-scope-acceptance-report.md；右图为同批次真实画像截图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时间：3:00—4:00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下方推荐先筛选正式课程，再排除当前已完成的课程。内容推荐结合标签相似度、个人行为和资源热度，权重分别为百分之六十、二十五和十五；没有历史行为时采用热度回退。系统还保留热度推荐作为基线。页面得分用于排序，不是推荐准确率或学习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画像和推荐按离线批次更新，因此刚才的新操作不会在刷新后立刻改变当前结果。这里展示的是已有批次，不是实时训练。</a:t>
            </a:r>
          </a:p>
          <a:p xmlns:a="http://schemas.openxmlformats.org/drawingml/2006/main">
            <a:r>
              <a:t>当前示例：PySpark得分100%、RDD60%、Python机器学习57.5%；它们不是准确率。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资料依据：依据：冻结源码 spark/utils/recommendations.py、outputs/formal-course-scope/verification.json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时间：4:00—4:45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管理员看板展示平台数据的整体情况。当前正式课程五门，正式课程有效行为九十九次，配套学习者画像四份。两种算法各生成二十条推荐，共四十条。这里的生成条数不是推荐点击量。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课程目录、学习统计和画像使用同一批次的正式课程范围，排除验收、隐藏和下架资源，历史记录继续保留。章节完成两个，但整门课程完成为零，与学生端一致。</a:t>
            </a:r>
          </a:p>
          <a:p xmlns:a="http://schemas.openxmlformats.org/drawingml/2006/main">
            <a:r>
              <a:t>操作：平台数据标签，指示指标并展开数据与批次。不要运行Spark。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资料依据：依据：正式课程范围验收；右图 outputs/formal-course-scope/dashboard.png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时间：4:45—5:30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切换到公开教育数据后，这里展示的是英国开放大学OULAD历史匿名数据，包含两万八千七百八十五名外部学生。它有独立分析流程，不属于本平台用户，也不能用来证明本平台有这么多学生正在使用。两个来源分别展示，避免混淆。</a:t>
            </a:r>
          </a:p>
          <a:p xmlns:a="http://schemas.openxmlformats.org/drawingml/2006/main">
            <a:r>
              <a:t>外部数据采集于2013—2014年，专用批次20261023T090521Z_d00d214a。图中数据不计入本平台账号或推荐效果。操作：切OULAD再切回平台。</a:t>
            </a:r>
          </a:p>
          <a:p xmlns:a="http://schemas.openxmlformats.org/drawingml/2006/main">
            <a:r>
              <a:t>截图来源：outputs/oulad-analysis/desktop.png；来源链接：https://archive.ics.uci.edu/dataset/349/open+university+learning+analytics+dataset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资料依据：来源：OULAD / UCI，DOI 10.24432/C5KK69，CC BY 4.0；真实截图2026-10-23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时间：5:30—6:15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系统采用Vue前端、FastAPI后端和MySQL数据库。数据库共有十三张表，Spark只读取核心业务和章节相关的八张表的分析字段，不是全库备份。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数据先进入ODS快照，再经过DWD清洗和统一进度派生，然后在任务内部聚合，生成ADS画像、推荐和看板结果。DWS在这里是逻辑聚合职责，没有独立物理表。结果校验后发布，并保留旧批次以便追溯。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Spark使用本机local模式，没有部署HDFS集群。公开数据使用独立入口和发布目录，不覆盖平台结果。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资料依据：依据：docs/architecture.md、冻结版ODS manifest；DWS为任务内逻辑职责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时间：6:15—6:30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操作：快速展示已有证据，不逐项朗读所有数字。</a:t>
            </a:r>
          </a:p>
          <a:p xmlns:a="http://schemas.openxmlformats.org/drawingml/2006/main">
            <a:r>
              <a:t>认证独立SQLite测试12项通过；25视频既有验收通过，后续哈希一致；4画像40推荐且双端页面核对一致。本次PPT制作不新增业务测试或播放验收。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资料依据：依据：认证、统一进度、正式课程范围及视频阶段验收报告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时间：6:30—7:00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本项目完成了课程学习、行为采集、画像推荐和管理分析的工程闭环，并统一了章节进度与正式课程统计口径。目前数据仍以开发验收和演示操作为主，不能据此证明推荐效果提升。后续可以在真实试用、算法评价和分布式部署方面继续完善。我的演示结束，请各位老师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常见追问备答（独立于7分钟）：</a:t>
            </a:r>
          </a:p>
          <a:p xmlns:a="http://schemas.openxmlformats.org/drawingml/2006/main">
            <a:r>
              <a:t>（不计入7分钟）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先回答问题本身，老师追问时再补实现细节。以下是可直接说的简短回答；不要把未来方案说成已经实现。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常见追问 | 可直接回答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1．为什么选择Spark？这么少数据有必要吗？ | 当前规模用普通程序也能处理。我选择Spark主要是实现并验证可追溯的离线数据处理链路，并不声称小数据上性能优于其他方案。 |</a:t>
            </a:r>
          </a:p>
          <a:p xmlns:a="http://schemas.openxmlformats.org/drawingml/2006/main">
            <a:r>
              <a:t>| 2．Spark运行在哪里？是不是集群？ | 当前在Windows与WSL2本机环境使用Spark 3.5.7 local[2]，没有部署多节点集群或HDFS。 |</a:t>
            </a:r>
          </a:p>
          <a:p xmlns:a="http://schemas.openxmlformats.org/drawingml/2006/main">
            <a:r>
              <a:t>| 3．DWS为什么没有独立表？ | 当前聚合职责放在画像、推荐和看板任务内部完成，因此DWS是逻辑层；实际落盘的是ODS、DWD和ADS。 |</a:t>
            </a:r>
          </a:p>
          <a:p xmlns:a="http://schemas.openxmlformats.org/drawingml/2006/main">
            <a:r>
              <a:t>| 4．数据库13张表为什么只抽8张？ | 分析只需要核心业务5表和章节3表。画像推荐结果表、AI辅助表及恢复码表不作为这次业务分析输入，更不会导出认证凭据。 |</a:t>
            </a:r>
          </a:p>
          <a:p xmlns:a="http://schemas.openxmlformats.org/drawingml/2006/main">
            <a:r>
              <a:t>| 5．141条为什么最后只显示99次？ | 141是课程事件清洗输入，过滤1条后有140条；99是进一步限定正式课程和有效学习者后的统计，两者筛选范围不同。 |</a:t>
            </a:r>
          </a:p>
          <a:p xmlns:a="http://schemas.openxmlformats.org/drawingml/2006/main">
            <a:r>
              <a:t>| 6．页面有完成操作，为什么课程完成率是0？ | 历史完成操作是当时发生的事件，当前章节课程必须全部章节完成才算整课完成。历史记录保留，但不补造当前完成数据。 |</a:t>
            </a:r>
          </a:p>
          <a:p xmlns:a="http://schemas.openxmlformats.org/drawingml/2006/main">
            <a:r>
              <a:t>| 7．RDD进度0%是不是没有学习？ | 不一定。只要已有章节开始记录，状态就是学习中；百分比按已完成章节计算，未确认完成时仍为0%。 |</a:t>
            </a:r>
          </a:p>
          <a:p xmlns:a="http://schemas.openxmlformats.org/drawingml/2006/main">
            <a:r>
              <a:t>| 8．完成率的分母是什么？ | 是已开始的用户与正式课程关系数量，不是平台全部课程数，也不是用户人数。没有开始记录时显示暂无。 |</a:t>
            </a:r>
          </a:p>
          <a:p xmlns:a="http://schemas.openxmlformats.org/drawingml/2006/main">
            <a:r>
              <a:t>| 9．播放156次说明看了多久？ | 不能据此推断观看时长。当前记录播放事件与位置，尚未实现有效观看时长统计；播放位置也不是累计时长。 |</a:t>
            </a:r>
          </a:p>
          <a:p xmlns:a="http://schemas.openxmlformats.org/drawingml/2006/main">
            <a:r>
              <a:t>| 10．章节操作怎样参与推荐？ | 章节浏览和播放按用户、课程、章节、日期及类型去重，浏览权重0.5、播放1，单课程单日上限3。章节完成不额外重复加分。 |</a:t>
            </a:r>
          </a:p>
          <a:p xmlns:a="http://schemas.openxmlformats.org/drawingml/2006/main">
            <a:r>
              <a:t>| 11．使用的是协同过滤或深度学习吗？ | 不是。当前是标签余弦相似度、个人行为和热度的融合评分，加上热度基线，没有实现ALS或深度学习推荐。 |</a:t>
            </a:r>
          </a:p>
          <a:p xmlns:a="http://schemas.openxmlformats.org/drawingml/2006/main">
            <a:r>
              <a:t>| 12．60/25/15的权重怎么来的？ | 这是当前实现采用的固定规则参数，不是通过大规模实验训练出的最优权重。其合理性还需要更充分的真实反馈与评价。 |</a:t>
            </a:r>
          </a:p>
          <a:p xmlns:a="http://schemas.openxmlformats.org/drawingml/2006/main">
            <a:r>
              <a:t>| 13．推荐100%是不是准确率100%？ | 不是。它是当前算法的推荐得分展示，只用于理解排序，不能解释为准确率或点击概率。 |</a:t>
            </a:r>
          </a:p>
          <a:p xmlns:a="http://schemas.openxmlformats.org/drawingml/2006/main">
            <a:r>
              <a:t>| 14．有证明推荐有效的实验吗？ | 项目有独立离线评价入口，但本次展示的结果主要证明功能和发布链路，不据此宣称准确率提升或真实教学收益。 |</a:t>
            </a:r>
          </a:p>
          <a:p xmlns:a="http://schemas.openxmlformats.org/drawingml/2006/main">
            <a:r>
              <a:t>| 15．刚才操作为什么推荐没变？ | 页面读取已经发布的离线结果，新行为要进入后续批次才会更新画像和推荐。刷新页面不会触发Spark。 |</a:t>
            </a:r>
          </a:p>
          <a:p xmlns:a="http://schemas.openxmlformats.org/drawingml/2006/main">
            <a:r>
              <a:t>| 16．为什么每个人都有五条推荐？ | 当前正式候选只有五门，相关学习者都没有整课完成，所以每种算法当前各有五条。以后完成或下架可能少于五条，系统不伪造补齐。 |</a:t>
            </a:r>
          </a:p>
          <a:p xmlns:a="http://schemas.openxmlformats.org/drawingml/2006/main">
            <a:r>
              <a:t>| 17．外部两万多学生是你平台用户吗？ | 不是。它们来自OULAD历史匿名数据，独立展示，不创建平台账号，也不计入平台画像推荐效果。 |</a:t>
            </a:r>
          </a:p>
          <a:p xmlns:a="http://schemas.openxmlformats.org/drawingml/2006/main">
            <a:r>
              <a:t>| 18．一千多万条交互是否都是视频播放？ | 不是。它是原数据按学生、资源和相对日聚合的交互行，sum_click是点击汇总，不能映射成单次视频播放或章节完成。 |</a:t>
            </a:r>
          </a:p>
          <a:p xmlns:a="http://schemas.openxmlformats.org/drawingml/2006/main">
            <a:r>
              <a:t>| 19．OULAD数据比较旧，能使用吗？ | 数据来自2013—2014年，应如实标注来源和年代。历史数据能否满足任务要求由导师和学校确认，不能为满足近期文献要求改写采集年代。 |</a:t>
            </a:r>
          </a:p>
          <a:p xmlns:a="http://schemas.openxmlformats.org/drawingml/2006/main">
            <a:r>
              <a:t>| 20．登录安全具体做了什么？ | 实现了密码哈希、角色权限、一次性验证码和限流，恢复码只存摘要。重置密码会轮换恢复码，并使旧密码对应的令牌失效。当前仍是本地单进程方案，不宣称生产级安全。 |</a:t>
            </a:r>
          </a:p>
          <a:p xmlns:a="http://schemas.openxmlformats.org/drawingml/2006/main">
            <a:r>
              <a:t>| 21．没有邮箱怎么找回密码？ | 用户需自行保存恢复码，已有账号可以登录后验证当前密码生成。没有密码也没有恢复码时，当前没有免验证的自助找回路径。 |</a:t>
            </a:r>
          </a:p>
          <a:p xmlns:a="http://schemas.openxmlformats.org/drawingml/2006/main">
            <a:r>
              <a:t>| 22．视频完成是否证明学生学会了？ | 不能。章节完成是手动记录的学习状态，平台没有自动评分或知识掌握验证。25个视频的媒体验收也不是学习效果评估。 |</a:t>
            </a:r>
          </a:p>
          <a:p xmlns:a="http://schemas.openxmlformats.org/drawingml/2006/main">
            <a:r>
              <a:t>| 23．AI是不是推荐算法？ | 不是。Spark负责画像与推荐；AI是可选的学习答疑增强。课程资料发送受许可和用户确认控制，AI回答需要结合教材核对。 |</a:t>
            </a:r>
          </a:p>
          <a:p xmlns:a="http://schemas.openxmlformats.org/drawingml/2006/main">
            <a:r>
              <a:t>| 24．管理员能编辑用户角色吗？ | 当前管理员用户页面是只读查看，不应宣称已实现用户角色编辑或停用。课程与资源维护有独立权限和记录保护。 |</a:t>
            </a:r>
          </a:p>
          <a:p xmlns:a="http://schemas.openxmlformats.org/drawingml/2006/main">
            <a:r>
              <a:t>| 25．项目亮点体现在哪里？ | 主要是把学习操作、章节进度、离线分析、可解释推荐和看板串成可追溯闭环，并统一统计范围、保留历史批次；不是发明新的推荐算法。 |</a:t>
            </a:r>
          </a:p>
          <a:p xmlns:a="http://schemas.openxmlformats.org/drawingml/2006/main">
            <a:r>
              <a:t>| 26．最主要的不足是什么？ | 平台真实试用规模有限，尚无有效观看时长和充分效果评测，使用单机离线处理，跨机器部署也需要另行恢复环境与数据。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资料依据：v1.1-defense-ready / 功能链路与范围一致性已验收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d9af8d29446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db6a7f047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e4ba733514a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001c45c2147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22a8f70bb4a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d9bc6133048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BB764-E333-4C98-A21E-4F1AA97F0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55BE8A-BC1B-4B80-9CD1-3012E51FAF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7362C3-77FF-4B4E-AB2F-BE86EE83A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BE2E06-039E-4212-A2D3-77AA541D3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EBEF2C-56E4-48C6-A91C-95F4282BB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F16121-8830-41FF-9EF3-5C5C030AA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9E49F1-081F-4324-ACD7-B8CA893C5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C60ABA-6D55-4C32-973C-64E09B14F8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68F11C-74C6-4F24-BD04-1801FCC55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85C87-10F6-4EB7-B9FF-197B7F53B7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6f6f7f9664c23" /><Relationship Type="http://schemas.openxmlformats.org/officeDocument/2006/relationships/slideLayout" Target="/ppt/slideLayouts/slideLayout1.xml" Id="R05bf4a9fa4fc4079" /><Relationship Type="http://schemas.openxmlformats.org/officeDocument/2006/relationships/slideLayout" Target="/ppt/slideLayouts/slideLayout2.xml" Id="R0e5935ce5717443a" /><Relationship Type="http://schemas.openxmlformats.org/officeDocument/2006/relationships/slideLayout" Target="/ppt/slideLayouts/slideLayout3.xml" Id="R69f2ed6922914cf4" /><Relationship Type="http://schemas.openxmlformats.org/officeDocument/2006/relationships/slideLayout" Target="/ppt/slideLayouts/slideLayout4.xml" Id="Rabe7f64a41104897" /><Relationship Type="http://schemas.openxmlformats.org/officeDocument/2006/relationships/slideLayout" Target="/ppt/slideLayouts/slideLayout5.xml" Id="Ra3f19a602cf24057" /><Relationship Type="http://schemas.openxmlformats.org/officeDocument/2006/relationships/slideLayout" Target="/ppt/slideLayouts/slideLayout6.xml" Id="Re20217181fb94f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f4a9fa4fc4079"/>
    <p:sldLayoutId xmlns:r="http://schemas.openxmlformats.org/officeDocument/2006/relationships" id="2147483650" r:id="R0e5935ce5717443a"/>
    <p:sldLayoutId xmlns:r="http://schemas.openxmlformats.org/officeDocument/2006/relationships" id="2147483651" r:id="R69f2ed6922914cf4"/>
    <p:sldLayoutId xmlns:r="http://schemas.openxmlformats.org/officeDocument/2006/relationships" id="2147483652" r:id="Rabe7f64a41104897"/>
    <p:sldLayoutId xmlns:r="http://schemas.openxmlformats.org/officeDocument/2006/relationships" id="2147483653" r:id="Ra3f19a602cf24057"/>
    <p:sldLayoutId xmlns:r="http://schemas.openxmlformats.org/officeDocument/2006/relationships" id="2147483654" r:id="Re20217181fb94f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832b5bcf143c9" /><Relationship Type="http://schemas.openxmlformats.org/officeDocument/2006/relationships/image" Target="/ppt/media/image.png" Id="Re24a8b31c4b04259" /><Relationship Type="http://schemas.openxmlformats.org/officeDocument/2006/relationships/notesSlide" Target="/ppt/notesSlides/notesSlide1.xml" Id="R0aa7ebe4cb29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8f9834f19467e" /><Relationship Type="http://schemas.openxmlformats.org/officeDocument/2006/relationships/notesSlide" Target="/ppt/notesSlides/notesSlide2.xml" Id="R781582eb344b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1403577f34b8a" /><Relationship Type="http://schemas.openxmlformats.org/officeDocument/2006/relationships/image" Target="/ppt/media/image.jpeg" Id="Rb9df9e47004e4038" /><Relationship Type="http://schemas.openxmlformats.org/officeDocument/2006/relationships/notesSlide" Target="/ppt/notesSlides/notesSlide3.xml" Id="R7a1b8b239ac241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2506c9acd46f4" /><Relationship Type="http://schemas.openxmlformats.org/officeDocument/2006/relationships/image" Target="/ppt/media/image2.jpeg" Id="R9863be335e1c492b" /><Relationship Type="http://schemas.openxmlformats.org/officeDocument/2006/relationships/notesSlide" Target="/ppt/notesSlides/notesSlide4.xml" Id="R74a914bd4943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183348d9d4f3b" /><Relationship Type="http://schemas.openxmlformats.org/officeDocument/2006/relationships/image" Target="/ppt/media/image3.jpeg" Id="R7ec9a1ac8c494c67" /><Relationship Type="http://schemas.openxmlformats.org/officeDocument/2006/relationships/notesSlide" Target="/ppt/notesSlides/notesSlide5.xml" Id="Rddd937a4e6ec43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16efebef64afc" /><Relationship Type="http://schemas.openxmlformats.org/officeDocument/2006/relationships/chart" Target="/ppt/slides/charts/chart1.xml" Id="R4ab0b9968aa24bc4" /><Relationship Type="http://schemas.openxmlformats.org/officeDocument/2006/relationships/notesSlide" Target="/ppt/notesSlides/notesSlide6.xml" Id="R6ab8517e489b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82c4a2ce04219" /><Relationship Type="http://schemas.openxmlformats.org/officeDocument/2006/relationships/image" Target="/ppt/media/image4.jpeg" Id="R8e7f0b4afe0c40a6" /><Relationship Type="http://schemas.openxmlformats.org/officeDocument/2006/relationships/notesSlide" Target="/ppt/notesSlides/notesSlide7.xml" Id="Rc6917d43f60c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23e946ff64fb9" /><Relationship Type="http://schemas.openxmlformats.org/officeDocument/2006/relationships/image" Target="/ppt/media/image5.jpeg" Id="Ra0700d1ff36d4c1b" /><Relationship Type="http://schemas.openxmlformats.org/officeDocument/2006/relationships/notesSlide" Target="/ppt/notesSlides/notesSlide8.xml" Id="Rfa3e84e2933e4b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cf7b10db540aa" /><Relationship Type="http://schemas.openxmlformats.org/officeDocument/2006/relationships/notesSlide" Target="/ppt/notesSlides/notesSlide9.xml" Id="R2e9642ad6b4e42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a1b72d92548a0" /><Relationship Type="http://schemas.openxmlformats.org/officeDocument/2006/relationships/notesSlide" Target="/ppt/notesSlides/notesSlide10.xml" Id="R1bc6ccc4475942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dc50f7ae24ddd" /><Relationship Type="http://schemas.openxmlformats.org/officeDocument/2006/relationships/notesSlide" Target="/ppt/notesSlides/notesSlide11.xml" Id="R38744537256046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权重（%）</c:v>
          </c:tx>
          <c:spPr>
            <a:solidFill xmlns:a="http://schemas.openxmlformats.org/drawingml/2006/main">
              <a:srgbClr val="A9583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标签相似度</c:v>
                </c:pt>
                <c:pt idx="1">
                  <c:v>个人行为</c:v>
                </c:pt>
                <c:pt idx="2">
                  <c:v>资源热度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92720"/>
                  </a:solidFill>
                  <a:latin typeface="DengXian"/>
                  <a:ea typeface="DengXian"/>
                  <a:cs typeface="DengXi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D5C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4FEA0A2B-F26F-42CE-89CD-253CEEB6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2" name="v1.1-defense-ready / 本科毕业">
            <a:extLst xmlns:a="http://schemas.openxmlformats.org/drawingml/2006/main">
              <a:ext uri="{FF2B5EF4-FFF2-40B4-BE49-F238E27FC236}">
                <a16:creationId xmlns:a16="http://schemas.microsoft.com/office/drawing/2014/main" id="{D684D3B5-807E-434A-BD47-A84E5B00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v1.1-defense-ready / 本科毕业设计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F58ED-095C-4201-A252-576E0C7E4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a8b31c4b042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本科毕业设计答辩">
            <a:extLst xmlns:a="http://schemas.openxmlformats.org/drawingml/2006/main">
              <a:ext uri="{FF2B5EF4-FFF2-40B4-BE49-F238E27FC236}">
                <a16:creationId xmlns:a16="http://schemas.microsoft.com/office/drawing/2014/main" id="{375561B5-0657-4351-9B12-F016147A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本科毕业设计答辩</a:t>
            </a:r>
          </a:p>
        </p:txBody>
      </p:sp>
      <p:sp>
        <p:nvSpPr>
          <p:cNvPr id="5" name="基于 Spark 的学习行为分析&#10;与个性化资源推荐">
            <a:extLst xmlns:a="http://schemas.openxmlformats.org/drawingml/2006/main">
              <a:ext uri="{FF2B5EF4-FFF2-40B4-BE49-F238E27FC236}">
                <a16:creationId xmlns:a16="http://schemas.microsoft.com/office/drawing/2014/main" id="{636841EC-08DD-4C0D-8819-957D1E48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9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基于 Spark 的学习行为分析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9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与个性化资源推荐系统</a:t>
            </a:r>
          </a:p>
        </p:txBody>
      </p:sp>
      <p:sp>
        <p:nvSpPr>
          <p:cNvPr id="6" name="设计与实现">
            <a:extLst xmlns:a="http://schemas.openxmlformats.org/drawingml/2006/main">
              <a:ext uri="{FF2B5EF4-FFF2-40B4-BE49-F238E27FC236}">
                <a16:creationId xmlns:a16="http://schemas.microsoft.com/office/drawing/2014/main" id="{849D4EFC-19D8-4173-840E-1C3B583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8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设计与实现</a:t>
            </a:r>
          </a:p>
        </p:txBody>
      </p:sp>
      <p:sp>
        <p:nvSpPr>
          <p:cNvPr id="7" name="nuyoahyanxi-design">
            <a:extLst xmlns:a="http://schemas.openxmlformats.org/drawingml/2006/main">
              <a:ext uri="{FF2B5EF4-FFF2-40B4-BE49-F238E27FC236}">
                <a16:creationId xmlns:a16="http://schemas.microsoft.com/office/drawing/2014/main" id="{848E1204-EEA5-43A0-8187-3283C762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nuyoahyanxi-design</a:t>
            </a:r>
          </a:p>
        </p:txBody>
      </p:sp>
      <p:sp>
        <p:nvSpPr>
          <p:cNvPr id="8" name="大数据技术专业">
            <a:extLst xmlns:a="http://schemas.openxmlformats.org/drawingml/2006/main">
              <a:ext uri="{FF2B5EF4-FFF2-40B4-BE49-F238E27FC236}">
                <a16:creationId xmlns:a16="http://schemas.microsoft.com/office/drawing/2014/main" id="{A173B1F6-B0DB-46E8-9D2D-B744EBD3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大数据技术专业</a:t>
            </a:r>
          </a:p>
        </p:txBody>
      </p:sp>
      <p:sp>
        <p:nvSpPr>
          <p:cNvPr id="9" name="冻结候选版本  v1.1-defense-read">
            <a:extLst xmlns:a="http://schemas.openxmlformats.org/drawingml/2006/main">
              <a:ext uri="{FF2B5EF4-FFF2-40B4-BE49-F238E27FC236}">
                <a16:creationId xmlns:a16="http://schemas.microsoft.com/office/drawing/2014/main" id="{0C485DA0-C849-42FF-A7CF-2D90D05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冻结候选版本  v1.1-defense-ready</a:t>
            </a:r>
          </a:p>
        </p:txBody>
      </p:sp>
    </p:spTree>
    <p:extLst>
      <p:ext uri="{BB962C8B-B14F-4D97-AF65-F5344CB8AC3E}">
        <p14:creationId xmlns:p14="http://schemas.microsoft.com/office/powerpoint/2010/main" val="2001431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项目目标与系统范围">
            <a:extLst xmlns:a="http://schemas.openxmlformats.org/drawingml/2006/main">
              <a:ext uri="{FF2B5EF4-FFF2-40B4-BE49-F238E27FC236}">
                <a16:creationId xmlns:a16="http://schemas.microsoft.com/office/drawing/2014/main" id="{1F068856-2614-40E9-8718-C26C4A7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项目目标与系统范围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7E1A1-D424-4D5D-AF8D-C9489EB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493CE541-5775-4DE0-B5DC-D1397DB6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4" name="依据：README.md、docs/defense">
            <a:extLst xmlns:a="http://schemas.openxmlformats.org/drawingml/2006/main">
              <a:ext uri="{FF2B5EF4-FFF2-40B4-BE49-F238E27FC236}">
                <a16:creationId xmlns:a16="http://schemas.microsoft.com/office/drawing/2014/main" id="{8B5C64B9-A34E-45B4-9F1D-97A52A6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依据：README.md、docs/defense-seven-minute-speech.md</a:t>
            </a:r>
          </a:p>
        </p:txBody>
      </p:sp>
      <p:sp>
        <p:nvSpPr>
          <p:cNvPr id="5" name="学习记录如何转化为可解释的推荐？">
            <a:extLst xmlns:a="http://schemas.openxmlformats.org/drawingml/2006/main">
              <a:ext uri="{FF2B5EF4-FFF2-40B4-BE49-F238E27FC236}">
                <a16:creationId xmlns:a16="http://schemas.microsoft.com/office/drawing/2014/main" id="{8E2EC2AA-6BD6-420F-A8DD-3F06899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学习记录如何转化为可解释的推荐？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9A20F3D8-5D36-4C94-B53F-9902134C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7" name="课程学习">
            <a:extLst xmlns:a="http://schemas.openxmlformats.org/drawingml/2006/main">
              <a:ext uri="{FF2B5EF4-FFF2-40B4-BE49-F238E27FC236}">
                <a16:creationId xmlns:a16="http://schemas.microsoft.com/office/drawing/2014/main" id="{94AC691D-2705-43AC-9F51-3D696B90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课程学习</a:t>
            </a:r>
          </a:p>
        </p:txBody>
      </p:sp>
      <p:sp>
        <p:nvSpPr>
          <p:cNvPr id="8" name="课程、视频和章节状态形成在线业务入口">
            <a:extLst xmlns:a="http://schemas.openxmlformats.org/drawingml/2006/main">
              <a:ext uri="{FF2B5EF4-FFF2-40B4-BE49-F238E27FC236}">
                <a16:creationId xmlns:a16="http://schemas.microsoft.com/office/drawing/2014/main" id="{830858E0-D0D3-478C-BD70-E3493F3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3845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课程、视频和章节状态形成在线业务入口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42BAFA4-4354-4EA9-922A-8B623D5A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10" name="行为分析">
            <a:extLst xmlns:a="http://schemas.openxmlformats.org/drawingml/2006/main">
              <a:ext uri="{FF2B5EF4-FFF2-40B4-BE49-F238E27FC236}">
                <a16:creationId xmlns:a16="http://schemas.microsoft.com/office/drawing/2014/main" id="{DC4982CF-1C77-41F8-A269-B6795F6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004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行为分析</a:t>
            </a:r>
          </a:p>
        </p:txBody>
      </p:sp>
      <p:sp>
        <p:nvSpPr>
          <p:cNvPr id="11" name="独立记录课程与章节事件，保留来源和批次">
            <a:extLst xmlns:a="http://schemas.openxmlformats.org/drawingml/2006/main">
              <a:ext uri="{FF2B5EF4-FFF2-40B4-BE49-F238E27FC236}">
                <a16:creationId xmlns:a16="http://schemas.microsoft.com/office/drawing/2014/main" id="{7EAD8784-08D1-4427-9CCC-B069015E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38575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独立记录课程与章节事件，保留来源和批次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CE457BB7-A9D5-41A4-B70F-42F5FF89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13" name="结果展示">
            <a:extLst xmlns:a="http://schemas.openxmlformats.org/drawingml/2006/main">
              <a:ext uri="{FF2B5EF4-FFF2-40B4-BE49-F238E27FC236}">
                <a16:creationId xmlns:a16="http://schemas.microsoft.com/office/drawing/2014/main" id="{B622BD67-376C-4853-8633-3B9F2AEC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结果展示</a:t>
            </a:r>
          </a:p>
        </p:txBody>
      </p:sp>
      <p:sp>
        <p:nvSpPr>
          <p:cNvPr id="14" name="画像、推荐和管理看板使用统一正式课程口径">
            <a:extLst xmlns:a="http://schemas.openxmlformats.org/drawingml/2006/main">
              <a:ext uri="{FF2B5EF4-FFF2-40B4-BE49-F238E27FC236}">
                <a16:creationId xmlns:a16="http://schemas.microsoft.com/office/drawing/2014/main" id="{D8422C43-A8FE-4293-9851-3B2C6DE6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83870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画像、推荐和管理看板使用统一正式课程口径</a:t>
            </a:r>
          </a:p>
        </p:txBody>
      </p:sp>
    </p:spTree>
    <p:extLst>
      <p:ext uri="{BB962C8B-B14F-4D97-AF65-F5344CB8AC3E}">
        <p14:creationId xmlns:p14="http://schemas.microsoft.com/office/powerpoint/2010/main" val="1079121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登录与课程入口">
            <a:extLst xmlns:a="http://schemas.openxmlformats.org/drawingml/2006/main">
              <a:ext uri="{FF2B5EF4-FFF2-40B4-BE49-F238E27FC236}">
                <a16:creationId xmlns:a16="http://schemas.microsoft.com/office/drawing/2014/main" id="{65651204-BBB7-4158-AE06-5EA5DB63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登录与课程入口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A1F1C-600A-412B-ACFF-EB2F7AA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57D358BA-374C-4D4B-BEF0-0DBEE9D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4" name="真实截图：outputs/login-experi">
            <a:extLst xmlns:a="http://schemas.openxmlformats.org/drawingml/2006/main">
              <a:ext uri="{FF2B5EF4-FFF2-40B4-BE49-F238E27FC236}">
                <a16:creationId xmlns:a16="http://schemas.microsoft.com/office/drawing/2014/main" id="{8F6FAD53-1EAC-4E29-90AC-F4B4C3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真实截图：outputs/login-experience/login-desktop.png（2026-10-23）</a:t>
            </a:r>
          </a:p>
        </p:txBody>
      </p:sp>
      <p:sp>
        <p:nvSpPr>
          <p:cNvPr id="5" name="学生端">
            <a:extLst xmlns:a="http://schemas.openxmlformats.org/drawingml/2006/main">
              <a:ext uri="{FF2B5EF4-FFF2-40B4-BE49-F238E27FC236}">
                <a16:creationId xmlns:a16="http://schemas.microsoft.com/office/drawing/2014/main" id="{699FF153-F898-414F-8FB8-F9CF8F15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学生端</a:t>
            </a:r>
          </a:p>
        </p:txBody>
      </p:sp>
      <p:sp>
        <p:nvSpPr>
          <p:cNvPr id="6" name="student_demo">
            <a:extLst xmlns:a="http://schemas.openxmlformats.org/drawingml/2006/main">
              <a:ext uri="{FF2B5EF4-FFF2-40B4-BE49-F238E27FC236}">
                <a16:creationId xmlns:a16="http://schemas.microsoft.com/office/drawing/2014/main" id="{540D8799-C705-4B66-9EE9-EB981CEC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student_demo</a:t>
            </a:r>
          </a:p>
        </p:txBody>
      </p:sp>
      <p:sp>
        <p:nvSpPr>
          <p:cNvPr id="7" name="管理员端">
            <a:extLst xmlns:a="http://schemas.openxmlformats.org/drawingml/2006/main">
              <a:ext uri="{FF2B5EF4-FFF2-40B4-BE49-F238E27FC236}">
                <a16:creationId xmlns:a16="http://schemas.microsoft.com/office/drawing/2014/main" id="{B60F8EFA-2D9F-4954-9D8D-D68A4802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管理员端</a:t>
            </a:r>
          </a:p>
        </p:txBody>
      </p:sp>
      <p:sp>
        <p:nvSpPr>
          <p:cNvPr id="8" name="admin_demo">
            <a:extLst xmlns:a="http://schemas.openxmlformats.org/drawingml/2006/main">
              <a:ext uri="{FF2B5EF4-FFF2-40B4-BE49-F238E27FC236}">
                <a16:creationId xmlns:a16="http://schemas.microsoft.com/office/drawing/2014/main" id="{8116EFDD-BE9B-40AA-8D85-DA4932F0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admin_demo</a:t>
            </a:r>
          </a:p>
        </p:txBody>
      </p:sp>
      <p:sp>
        <p:nvSpPr>
          <p:cNvPr id="9" name="5 门正式课程&#10;25 个章节视频">
            <a:extLst xmlns:a="http://schemas.openxmlformats.org/drawingml/2006/main">
              <a:ext uri="{FF2B5EF4-FFF2-40B4-BE49-F238E27FC236}">
                <a16:creationId xmlns:a16="http://schemas.microsoft.com/office/drawing/2014/main" id="{F4056DFA-C6A5-4FFD-846E-A27A0CA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190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5 门正式课程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25 个章节视频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9E3F4-DDB0-42E1-813D-91C4C2FC8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f9e47004e4038"/>
          <a:stretch xmlns:a="http://schemas.openxmlformats.org/drawingml/2006/main"/>
        </p:blipFill>
        <p:spPr>
          <a:xfrm xmlns:a="http://schemas.openxmlformats.org/drawingml/2006/main">
            <a:off x="4619625" y="1609725"/>
            <a:ext cx="6515100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0183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课程学习与行为采集">
            <a:extLst>
              <a:ext uri="{FF2B5EF4-FFF2-40B4-BE49-F238E27FC236}">
                <ns2:creationId id="{47E53314-78D4-458C-858B-727B4671354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课程学习与行为采集</a:t>
            </a:r>
          </a:p>
        </p:txBody>
      </p:sp>
      <p:sp>
        <p:nvSpPr>
          <p:cNvPr id="2" name="">
            <a:extLst>
              <a:ext uri="{FF2B5EF4-FFF2-40B4-BE49-F238E27FC236}">
                <ns2:creationId id="{A20A8E11-BAA7-489F-B83D-157C3B5F0E87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0"/>
          </a:xfrm>
          <a:prstGeom prst="line">
            <a:avLst/>
          </a:prstGeom>
          <a:ln w="10478">
            <a:solidFill>
              <a:srgbClr val="DCD5CA"/>
            </a:solidFill>
          </a:ln>
        </p:spPr>
      </p:sp>
      <p:sp>
        <p:nvSpPr>
          <p:cNvPr id="3" name="04">
            <a:extLst>
              <a:ext uri="{FF2B5EF4-FFF2-40B4-BE49-F238E27FC236}">
                <ns2:creationId id="{F5FA027A-CCBF-4941-BB62-FDFB094A0ECE}"/>
              </a:ext>
            </a:extLst>
          </p:cNvPr>
          <p:cNvSpPr>
            <a:spLocks noGrp="1"/>
          </p:cNvSpPr>
          <p:nvPr/>
        </p:nvSpPr>
        <p:spPr>
          <a:xfrm>
            <a:off x="11077575" y="62865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" name="真实截图：outputs/course-learn">
            <a:extLst>
              <a:ext uri="{FF2B5EF4-FFF2-40B4-BE49-F238E27FC236}">
                <ns2:creationId id="{03C188A7-0732-4727-8036-3593293AA6C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历史截图：Python机器学习基础（2026-10-23）；现场：PySpark1069 第2章，课程不同</a:t>
            </a:r>
          </a:p>
        </p:txBody>
      </p:sp>
      <p:pic>
        <p:nvPicPr>
          <p:cNvPr id="5" name="">
            <a:extLst>
              <a:ext uri="{FF2B5EF4-FFF2-40B4-BE49-F238E27FC236}">
                <ns2:creationId id="{858C653B-E57D-4CFB-AE2A-29401DB896BF}"/>
              </a:ext>
            </a:extLst>
          </p:cNvPr>
          <p:cNvPicPr>
            <a:picLocks noChangeAspect="1"/>
          </p:cNvPicPr>
          <p:nvPr/>
        </p:nvPicPr>
        <p:blipFill>
          <a:blip r:embed="R9863be335e1c492b"/>
          <a:srcRect l="500" t="42000" r="2000" b="1000"/>
          <a:stretch/>
        </p:blipFill>
        <p:spPr>
          <a:xfrm>
            <a:off x="609600" y="1762125"/>
            <a:ext cx="7620000" cy="4095750"/>
          </a:xfrm>
          <a:prstGeom prst="rect">
            <a:avLst/>
          </a:prstGeom>
        </p:spPr>
      </p:pic>
      <p:sp>
        <p:nvSpPr>
          <p:cNvPr id="6" name="视频与教学材料">
            <a:extLst>
              <a:ext uri="{FF2B5EF4-FFF2-40B4-BE49-F238E27FC236}">
                <ns2:creationId id="{4D5C9542-C206-439B-9D54-D817AFD77BAA}"/>
              </a:ext>
            </a:extLst>
          </p:cNvPr>
          <p:cNvSpPr>
            <a:spLocks noGrp="1"/>
          </p:cNvSpPr>
          <p:nvPr/>
        </p:nvSpPr>
        <p:spPr>
          <a:xfrm>
            <a:off x="8639175" y="1828800"/>
            <a:ext cx="2952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视频与教学材料</a:t>
            </a:r>
          </a:p>
        </p:txBody>
      </p:sp>
      <p:sp>
        <p:nvSpPr>
          <p:cNvPr id="7" name="章节目录、目标、示例代码与练习">
            <a:extLst>
              <a:ext uri="{FF2B5EF4-FFF2-40B4-BE49-F238E27FC236}">
                <ns2:creationId id="{81607E3A-D267-4B0C-B69D-CB375ECE8322}"/>
              </a:ext>
            </a:extLst>
          </p:cNvPr>
          <p:cNvSpPr>
            <a:spLocks noGrp="1"/>
          </p:cNvSpPr>
          <p:nvPr/>
        </p:nvSpPr>
        <p:spPr>
          <a:xfrm>
            <a:off x="8639175" y="2400300"/>
            <a:ext cx="29051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章节目录、目标、示例代码与练习</a:t>
            </a:r>
          </a:p>
        </p:txBody>
      </p:sp>
      <p:sp>
        <p:nvSpPr>
          <p:cNvPr id="8" name="真实行为采集">
            <a:extLst>
              <a:ext uri="{FF2B5EF4-FFF2-40B4-BE49-F238E27FC236}">
                <ns2:creationId id="{CF9651EA-D622-41AC-964C-281CF46E0808}"/>
              </a:ext>
            </a:extLst>
          </p:cNvPr>
          <p:cNvSpPr>
            <a:spLocks noGrp="1"/>
          </p:cNvSpPr>
          <p:nvPr/>
        </p:nvSpPr>
        <p:spPr>
          <a:xfrm>
            <a:off x="8639175" y="3600450"/>
            <a:ext cx="2905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真实行为采集</a:t>
            </a:r>
          </a:p>
        </p:txBody>
      </p:sp>
      <p:sp>
        <p:nvSpPr>
          <p:cNvPr id="9" name="课程浏览、章节访问、视频播放分别记录">
            <a:extLst>
              <a:ext uri="{FF2B5EF4-FFF2-40B4-BE49-F238E27FC236}">
                <ns2:creationId id="{498507A6-EF62-435D-B875-F5E89584778B}"/>
              </a:ext>
            </a:extLst>
          </p:cNvPr>
          <p:cNvSpPr>
            <a:spLocks noGrp="1"/>
          </p:cNvSpPr>
          <p:nvPr/>
        </p:nvSpPr>
        <p:spPr>
          <a:xfrm>
            <a:off x="8639175" y="4171950"/>
            <a:ext cx="290512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课程浏览、章节访问、视频播放分别记录</a:t>
            </a:r>
          </a:p>
        </p:txBody>
      </p:sp>
      <p:sp>
        <p:nvSpPr>
          <p:cNvPr id="10" name="手动完成章节；播放次数不代表时长">
            <a:extLst>
              <a:ext uri="{FF2B5EF4-FFF2-40B4-BE49-F238E27FC236}">
                <ns2:creationId id="{5D6B0A72-561A-4757-AB84-E0E25F286FF9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lnSpc>
                <a:spcPct val="118000"/>
              </a:lnSpc>
              <a:buNone/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历史截图仅展示布局；不用于证明当前进度</a:t>
            </a:r>
          </a:p>
        </p:txBody>
      </p:sp>
    </p:spTree>
    <p:extLst>
      <p:ext uri="{BB962C8B-B14F-4D97-AF65-F5344CB8AC3E}">
        <ns4:creationId val="263157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统一进度：章节完成与整课完成分开">
            <a:extLst xmlns:a="http://schemas.openxmlformats.org/drawingml/2006/main">
              <a:ext uri="{FF2B5EF4-FFF2-40B4-BE49-F238E27FC236}">
                <a16:creationId xmlns:a16="http://schemas.microsoft.com/office/drawing/2014/main" id="{BB8A326B-8DDA-466B-A80E-C311E2D4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统一进度：章节完成与整课完成分开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1F819-7A35-4E1E-80B1-6B1AC613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759A8B3D-0975-4956-9F51-24E42CD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" name="依据：outputs/formal-course-">
            <a:extLst xmlns:a="http://schemas.openxmlformats.org/drawingml/2006/main">
              <a:ext uri="{FF2B5EF4-FFF2-40B4-BE49-F238E27FC236}">
                <a16:creationId xmlns:a16="http://schemas.microsoft.com/office/drawing/2014/main" id="{043A2E4C-5153-4DEC-9380-8E494484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依据：outputs/formal-course-scope-acceptance-report.md；右图为同批次真实画像截图</a:t>
            </a:r>
          </a:p>
        </p:txBody>
      </p:sp>
      <p:sp>
        <p:nvSpPr>
          <p:cNvPr id="5" name="已开始 5 门">
            <a:extLst xmlns:a="http://schemas.openxmlformats.org/drawingml/2006/main">
              <a:ext uri="{FF2B5EF4-FFF2-40B4-BE49-F238E27FC236}">
                <a16:creationId xmlns:a16="http://schemas.microsoft.com/office/drawing/2014/main" id="{73D3DF19-B496-4013-A3A7-005DF98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已开始 5 门</a:t>
            </a:r>
          </a:p>
        </p:txBody>
      </p:sp>
      <p:sp>
        <p:nvSpPr>
          <p:cNvPr id="6" name="整课完成 0 门">
            <a:extLst xmlns:a="http://schemas.openxmlformats.org/drawingml/2006/main">
              <a:ext uri="{FF2B5EF4-FFF2-40B4-BE49-F238E27FC236}">
                <a16:creationId xmlns:a16="http://schemas.microsoft.com/office/drawing/2014/main" id="{64566641-5493-42EE-A531-5ABC0F92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整课完成 0 门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FFB11-37DC-4748-8AE8-D1FD32579BFD}"/>
              </a:ext>
            </a:extLst>
          </p:cNvPr>
          <p:cNvGraphicFramePr/>
          <p:nvPr/>
        </p:nvGraphicFramePr>
        <p:xfrm>
          <a:off xmlns:a="http://schemas.openxmlformats.org/drawingml/2006/main" x="609600" y="2514600"/>
          <a:ext xmlns:a="http://schemas.openxmlformats.org/drawingml/2006/main" cx="7334250" cy="2990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1809750"/>
                <a:gridCol w="2171700"/>
              </a:tblGrid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课程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完成章节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Spark RDD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0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PySpark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1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Hadoop HDFS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0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MySQL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1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Python机器学习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0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完成率 0% = 已完成 0 / 已开始 5">
            <a:extLst xmlns:a="http://schemas.openxmlformats.org/drawingml/2006/main">
              <a:ext uri="{FF2B5EF4-FFF2-40B4-BE49-F238E27FC236}">
                <a16:creationId xmlns:a16="http://schemas.microsoft.com/office/drawing/2014/main" id="{1B6C1FD7-FF15-4EB5-AC2C-6ABC491F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完成率 0% = 已完成 0 / 已开始 5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A09B4-AA74-4B49-89F6-966889EF5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9a1ac8c494c67"/>
          <a:stretch xmlns:a="http://schemas.openxmlformats.org/drawingml/2006/main"/>
        </p:blipFill>
        <p:spPr>
          <a:xfrm xmlns:a="http://schemas.openxmlformats.org/drawingml/2006/main">
            <a:off x="8777479" y="1476375"/>
            <a:ext cx="2561842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21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可解释的个性化推荐">
            <a:extLst xmlns:a="http://schemas.openxmlformats.org/drawingml/2006/main">
              <a:ext uri="{FF2B5EF4-FFF2-40B4-BE49-F238E27FC236}">
                <a16:creationId xmlns:a16="http://schemas.microsoft.com/office/drawing/2014/main" id="{135E2283-C20A-4B7C-ABD4-3F3EEB5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可解释的个性化推荐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2B8B2-FD30-4050-8EA7-2039CEF9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1703C390-E254-4867-9D47-B0953C5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4" name="依据：冻结源码 spark/utils/recom">
            <a:extLst xmlns:a="http://schemas.openxmlformats.org/drawingml/2006/main">
              <a:ext uri="{FF2B5EF4-FFF2-40B4-BE49-F238E27FC236}">
                <a16:creationId xmlns:a16="http://schemas.microsoft.com/office/drawing/2014/main" id="{8789EBBB-A91D-4FE6-9117-BB9C78D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依据：冻结源码 spark/utils/recommendations.py、outputs/formal-course-scope/verification.json</a:t>
            </a:r>
          </a:p>
        </p:txBody>
      </p:sp>
      <p:sp>
        <p:nvSpPr>
          <p:cNvPr id="5" name="固定融合权重（%）">
            <a:extLst xmlns:a="http://schemas.openxmlformats.org/drawingml/2006/main">
              <a:ext uri="{FF2B5EF4-FFF2-40B4-BE49-F238E27FC236}">
                <a16:creationId xmlns:a16="http://schemas.microsoft.com/office/drawing/2014/main" id="{BFAE1A22-A16C-4AE2-9E2F-FC3FBBA8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固定融合权重（%）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E897151-01D9-4BF1-81E9-DB6ACB3ED91C}"/>
              </a:ext>
            </a:extLst>
          </p:cNvPr>
          <p:cNvGraphicFramePr/>
          <p:nvPr/>
        </p:nvGraphicFramePr>
        <p:xfrm>
          <a:off xmlns:a="http://schemas.openxmlformats.org/drawingml/2006/main" x="523875" y="2409825"/>
          <a:ext xmlns:a="http://schemas.openxmlformats.org/drawingml/2006/main" cx="6381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b0b9968aa24bc4"/>
          </a:graphicData>
        </a:graphic>
      </p:graphicFrame>
      <p:sp>
        <p:nvSpPr>
          <p:cNvPr id="7" name="正式范围内生成 Top 5">
            <a:extLst xmlns:a="http://schemas.openxmlformats.org/drawingml/2006/main">
              <a:ext uri="{FF2B5EF4-FFF2-40B4-BE49-F238E27FC236}">
                <a16:creationId xmlns:a16="http://schemas.microsoft.com/office/drawing/2014/main" id="{BD513417-F31C-4723-B578-ED7F1CD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02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正式范围内生成 Top 5</a:t>
            </a:r>
          </a:p>
        </p:txBody>
      </p:sp>
      <p:sp>
        <p:nvSpPr>
          <p:cNvPr id="8" name="先筛正式课程&#10;再过滤当前已完成课程">
            <a:extLst xmlns:a="http://schemas.openxmlformats.org/drawingml/2006/main">
              <a:ext uri="{FF2B5EF4-FFF2-40B4-BE49-F238E27FC236}">
                <a16:creationId xmlns:a16="http://schemas.microsoft.com/office/drawing/2014/main" id="{FCA74619-62F4-488C-8AFD-03D5C972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先筛正式课程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再过滤当前已完成课程</a:t>
            </a:r>
          </a:p>
        </p:txBody>
      </p:sp>
      <p:sp>
        <p:nvSpPr>
          <p:cNvPr id="9" name="content_v1 内容推荐&#10;popular_v">
            <a:extLst xmlns:a="http://schemas.openxmlformats.org/drawingml/2006/main">
              <a:ext uri="{FF2B5EF4-FFF2-40B4-BE49-F238E27FC236}">
                <a16:creationId xmlns:a16="http://schemas.microsoft.com/office/drawing/2014/main" id="{B219E599-798D-44B7-9742-E9B148E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content_v1 内容推荐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popular_v1 热度基线</a:t>
            </a:r>
          </a:p>
        </p:txBody>
      </p:sp>
      <p:sp>
        <p:nvSpPr>
          <p:cNvPr id="10" name="推荐得分用于排序；新行为进入后续批次">
            <a:extLst xmlns:a="http://schemas.openxmlformats.org/drawingml/2006/main">
              <a:ext uri="{FF2B5EF4-FFF2-40B4-BE49-F238E27FC236}">
                <a16:creationId xmlns:a16="http://schemas.microsoft.com/office/drawing/2014/main" id="{1DD72FDC-3AA3-4CC9-83EC-A10382B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推荐得分用于排序；新行为进入后续批次</a:t>
            </a:r>
          </a:p>
        </p:txBody>
      </p:sp>
    </p:spTree>
    <p:extLst>
      <p:ext uri="{BB962C8B-B14F-4D97-AF65-F5344CB8AC3E}">
        <p14:creationId xmlns:p14="http://schemas.microsoft.com/office/powerpoint/2010/main" val="1515129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管理员看板：同一批次、同一范围">
            <a:extLst xmlns:a="http://schemas.openxmlformats.org/drawingml/2006/main">
              <a:ext uri="{FF2B5EF4-FFF2-40B4-BE49-F238E27FC236}">
                <a16:creationId xmlns:a16="http://schemas.microsoft.com/office/drawing/2014/main" id="{CCF44894-7B80-4676-ADAE-AE91076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管理员看板：同一批次、同一范围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F45B6-28CF-4173-AC75-524E114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2F98A2E-C779-45F8-9E39-D3663E4B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07</a:t>
            </a:r>
          </a:p>
        </p:txBody>
      </p:sp>
      <p:sp>
        <p:nvSpPr>
          <p:cNvPr id="4" name="依据：正式课程范围验收；右图 outputs/fo">
            <a:extLst xmlns:a="http://schemas.openxmlformats.org/drawingml/2006/main">
              <a:ext uri="{FF2B5EF4-FFF2-40B4-BE49-F238E27FC236}">
                <a16:creationId xmlns:a16="http://schemas.microsoft.com/office/drawing/2014/main" id="{0D4D2526-459E-423C-865B-A8062D6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依据：正式课程范围验收；右图 outputs/formal-course-scope/dashboard.png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198A005A-A8BB-4BD4-8562-663618D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5</a:t>
            </a:r>
          </a:p>
        </p:txBody>
      </p:sp>
      <p:sp>
        <p:nvSpPr>
          <p:cNvPr id="6" name="正式课程">
            <a:extLst xmlns:a="http://schemas.openxmlformats.org/drawingml/2006/main">
              <a:ext uri="{FF2B5EF4-FFF2-40B4-BE49-F238E27FC236}">
                <a16:creationId xmlns:a16="http://schemas.microsoft.com/office/drawing/2014/main" id="{3A79A256-BB2D-4422-8240-6AB2466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正式课程</a:t>
            </a:r>
          </a:p>
        </p:txBody>
      </p:sp>
      <p:sp>
        <p:nvSpPr>
          <p:cNvPr id="7" name="99">
            <a:extLst xmlns:a="http://schemas.openxmlformats.org/drawingml/2006/main">
              <a:ext uri="{FF2B5EF4-FFF2-40B4-BE49-F238E27FC236}">
                <a16:creationId xmlns:a16="http://schemas.microsoft.com/office/drawing/2014/main" id="{1EBBEA9D-7384-4368-B460-5C8D490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8117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99</a:t>
            </a:r>
          </a:p>
        </p:txBody>
      </p:sp>
      <p:sp>
        <p:nvSpPr>
          <p:cNvPr id="8" name="有效课程行为">
            <a:extLst xmlns:a="http://schemas.openxmlformats.org/drawingml/2006/main">
              <a:ext uri="{FF2B5EF4-FFF2-40B4-BE49-F238E27FC236}">
                <a16:creationId xmlns:a16="http://schemas.microsoft.com/office/drawing/2014/main" id="{94EF56CB-FAFD-4F6A-A5C0-4E5A7C61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有效课程行为</a:t>
            </a:r>
          </a:p>
        </p:txBody>
      </p:sp>
      <p:sp>
        <p:nvSpPr>
          <p:cNvPr id="9" name="4">
            <a:extLst xmlns:a="http://schemas.openxmlformats.org/drawingml/2006/main">
              <a:ext uri="{FF2B5EF4-FFF2-40B4-BE49-F238E27FC236}">
                <a16:creationId xmlns:a16="http://schemas.microsoft.com/office/drawing/2014/main" id="{0646A0A7-0AF8-492B-AB79-6C09374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4</a:t>
            </a:r>
          </a:p>
        </p:txBody>
      </p:sp>
      <p:sp>
        <p:nvSpPr>
          <p:cNvPr id="10" name="配套画像">
            <a:extLst xmlns:a="http://schemas.openxmlformats.org/drawingml/2006/main">
              <a:ext uri="{FF2B5EF4-FFF2-40B4-BE49-F238E27FC236}">
                <a16:creationId xmlns:a16="http://schemas.microsoft.com/office/drawing/2014/main" id="{4F7127D0-ABD4-4917-AA02-7E72095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配套画像</a:t>
            </a:r>
          </a:p>
        </p:txBody>
      </p:sp>
      <p:sp>
        <p:nvSpPr>
          <p:cNvPr id="11" name="40">
            <a:extLst xmlns:a="http://schemas.openxmlformats.org/drawingml/2006/main">
              <a:ext uri="{FF2B5EF4-FFF2-40B4-BE49-F238E27FC236}">
                <a16:creationId xmlns:a16="http://schemas.microsoft.com/office/drawing/2014/main" id="{1809FB78-70F4-4837-80EB-8B5AC8DF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40</a:t>
            </a:r>
          </a:p>
        </p:txBody>
      </p:sp>
      <p:sp>
        <p:nvSpPr>
          <p:cNvPr id="12" name="推荐结果行">
            <a:extLst xmlns:a="http://schemas.openxmlformats.org/drawingml/2006/main">
              <a:ext uri="{FF2B5EF4-FFF2-40B4-BE49-F238E27FC236}">
                <a16:creationId xmlns:a16="http://schemas.microsoft.com/office/drawing/2014/main" id="{A3EBE5AA-9CEF-4649-B5A3-22771E3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482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推荐结果行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5FDF3-7568-421E-9F5D-E623A8EC6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f0b4afe0c40a6"/>
          <a:stretch xmlns:a="http://schemas.openxmlformats.org/drawingml/2006/main"/>
        </p:blipFill>
        <p:spPr>
          <a:xfrm xmlns:a="http://schemas.openxmlformats.org/drawingml/2006/main">
            <a:off x="8863204" y="1514475"/>
            <a:ext cx="2561842" cy="4572000"/>
          </a:xfrm>
          <a:prstGeom xmlns:a="http://schemas.openxmlformats.org/drawingml/2006/main" prst="rect">
            <a:avLst/>
          </a:prstGeom>
        </p:spPr>
      </p:pic>
      <p:sp>
        <p:nvSpPr>
          <p:cNvPr id="14" name="章节浏览 108 次    视频播放 156 次 ">
            <a:extLst xmlns:a="http://schemas.openxmlformats.org/drawingml/2006/main">
              <a:ext uri="{FF2B5EF4-FFF2-40B4-BE49-F238E27FC236}">
                <a16:creationId xmlns:a16="http://schemas.microsoft.com/office/drawing/2014/main" id="{3E84C5A5-A1F3-4E4E-A94B-0D16ED21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章节浏览 108 次    视频播放 156 次    章节完成 2 个</a:t>
            </a:r>
          </a:p>
        </p:txBody>
      </p:sp>
    </p:spTree>
    <p:extLst>
      <p:ext uri="{BB962C8B-B14F-4D97-AF65-F5344CB8AC3E}">
        <p14:creationId xmlns:p14="http://schemas.microsoft.com/office/powerpoint/2010/main" val="1614654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公开教育数据独立分析">
            <a:extLst xmlns:a="http://schemas.openxmlformats.org/drawingml/2006/main">
              <a:ext uri="{FF2B5EF4-FFF2-40B4-BE49-F238E27FC236}">
                <a16:creationId xmlns:a16="http://schemas.microsoft.com/office/drawing/2014/main" id="{25D36ABC-4265-41AC-8A2F-4F5D3B00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公开教育数据独立分析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B672-A361-4488-9A98-60320B38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C9685F35-ED92-44F3-865C-C8B7754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08</a:t>
            </a:r>
          </a:p>
        </p:txBody>
      </p:sp>
      <p:sp>
        <p:nvSpPr>
          <p:cNvPr id="4" name="来源：OULAD / UCI，DOI 10.244">
            <a:extLst xmlns:a="http://schemas.openxmlformats.org/drawingml/2006/main">
              <a:ext uri="{FF2B5EF4-FFF2-40B4-BE49-F238E27FC236}">
                <a16:creationId xmlns:a16="http://schemas.microsoft.com/office/drawing/2014/main" id="{1CAC1A3F-F3E1-44FF-91FA-8841803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来源：OULAD / UCI，DOI 10.24432/C5KK69，CC BY 4.0；真实截图2026-10-23</a:t>
            </a:r>
          </a:p>
        </p:txBody>
      </p:sp>
      <p:sp>
        <p:nvSpPr>
          <p:cNvPr id="5" name="28,785">
            <a:extLst xmlns:a="http://schemas.openxmlformats.org/drawingml/2006/main">
              <a:ext uri="{FF2B5EF4-FFF2-40B4-BE49-F238E27FC236}">
                <a16:creationId xmlns:a16="http://schemas.microsoft.com/office/drawing/2014/main" id="{134CF6FF-60B1-4222-8EE9-62FC2CE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502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28,785</a:t>
            </a:r>
          </a:p>
        </p:txBody>
      </p:sp>
      <p:sp>
        <p:nvSpPr>
          <p:cNvPr id="6" name="外部匿名学生">
            <a:extLst xmlns:a="http://schemas.openxmlformats.org/drawingml/2006/main">
              <a:ext uri="{FF2B5EF4-FFF2-40B4-BE49-F238E27FC236}">
                <a16:creationId xmlns:a16="http://schemas.microsoft.com/office/drawing/2014/main" id="{EB8AEB92-463F-42B6-B487-BB490B8C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外部匿名学生</a:t>
            </a:r>
          </a:p>
        </p:txBody>
      </p:sp>
      <p:sp>
        <p:nvSpPr>
          <p:cNvPr id="7" name="10,655,280">
            <a:extLst xmlns:a="http://schemas.openxmlformats.org/drawingml/2006/main">
              <a:ext uri="{FF2B5EF4-FFF2-40B4-BE49-F238E27FC236}">
                <a16:creationId xmlns:a16="http://schemas.microsoft.com/office/drawing/2014/main" id="{81B0C113-FD99-48C5-B02C-326F4622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390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10,655,280</a:t>
            </a:r>
          </a:p>
        </p:txBody>
      </p:sp>
      <p:sp>
        <p:nvSpPr>
          <p:cNvPr id="8" name="学生与资源按相对日聚合的交互行">
            <a:extLst xmlns:a="http://schemas.openxmlformats.org/drawingml/2006/main">
              <a:ext uri="{FF2B5EF4-FFF2-40B4-BE49-F238E27FC236}">
                <a16:creationId xmlns:a16="http://schemas.microsoft.com/office/drawing/2014/main" id="{6918631A-D9F8-477A-AB2C-EB39793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学生与资源按相对日聚合的交互行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2DD21-C5B2-4770-9091-DBFCED37A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0d1ff36d4c1b"/>
          <a:stretch xmlns:a="http://schemas.openxmlformats.org/drawingml/2006/main"/>
        </p:blipFill>
        <p:spPr>
          <a:xfrm xmlns:a="http://schemas.openxmlformats.org/drawingml/2006/main">
            <a:off x="5240554" y="1666875"/>
            <a:ext cx="5854267" cy="4067175"/>
          </a:xfrm>
          <a:prstGeom xmlns:a="http://schemas.openxmlformats.org/drawingml/2006/main" prst="rect">
            <a:avLst/>
          </a:prstGeom>
        </p:spPr>
      </p:pic>
      <p:sp>
        <p:nvSpPr>
          <p:cNvPr id="10" name="2013—2014 年历史数据；不计入本平台用户数">
            <a:extLst xmlns:a="http://schemas.openxmlformats.org/drawingml/2006/main">
              <a:ext uri="{FF2B5EF4-FFF2-40B4-BE49-F238E27FC236}">
                <a16:creationId xmlns:a16="http://schemas.microsoft.com/office/drawing/2014/main" id="{7858F397-F181-4EE2-A725-B381806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2013—2014 年历史数据；不计入本平台用户数</a:t>
            </a:r>
          </a:p>
        </p:txBody>
      </p:sp>
    </p:spTree>
    <p:extLst>
      <p:ext uri="{BB962C8B-B14F-4D97-AF65-F5344CB8AC3E}">
        <p14:creationId xmlns:p14="http://schemas.microsoft.com/office/powerpoint/2010/main" val="1640620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1C312-8A3B-4724-818A-D632F702FB8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38671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EE0AE-4258-4959-B575-F10DF0D3EE8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9775" y="38671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A8E86-FA0E-44A3-8229-24F6C7971AA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90850" y="38671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A1046-78D4-4922-B295-F4D45173EC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800225" y="2581275"/>
            <a:ext cx="83248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7037B-6771-41D4-A0B0-C69699BB33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39025" y="2162175"/>
            <a:ext cx="1304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64336-F7CA-4333-A794-5B89ADE9BFC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2162175"/>
            <a:ext cx="1304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sp>
        <p:nvSpPr>
          <p:cNvPr id="20" name="八表分析输入与分层处理">
            <a:extLst xmlns:a="http://schemas.openxmlformats.org/drawingml/2006/main">
              <a:ext uri="{FF2B5EF4-FFF2-40B4-BE49-F238E27FC236}">
                <a16:creationId xmlns:a16="http://schemas.microsoft.com/office/drawing/2014/main" id="{374C3A65-8DC6-44C8-A3A1-22500A6B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八表分析输入与分层处理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E82AC-247E-419B-B866-41EC8CB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74F71537-62F5-4F7D-994B-A770F21C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09</a:t>
            </a:r>
          </a:p>
        </p:txBody>
      </p:sp>
      <p:sp>
        <p:nvSpPr>
          <p:cNvPr id="4" name="依据：docs/architecture.md、冻">
            <a:extLst xmlns:a="http://schemas.openxmlformats.org/drawingml/2006/main">
              <a:ext uri="{FF2B5EF4-FFF2-40B4-BE49-F238E27FC236}">
                <a16:creationId xmlns:a16="http://schemas.microsoft.com/office/drawing/2014/main" id="{B5F9E467-5F21-4865-9B32-19FBBADD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依据：docs/architecture.md、冻结版ODS manifest；DWS为任务内逻辑职责</a:t>
            </a:r>
          </a:p>
        </p:txBody>
      </p:sp>
      <p:sp>
        <p:nvSpPr>
          <p:cNvPr id="5" name="Vue 3&#10;学生与管理员">
            <a:extLst xmlns:a="http://schemas.openxmlformats.org/drawingml/2006/main">
              <a:ext uri="{FF2B5EF4-FFF2-40B4-BE49-F238E27FC236}">
                <a16:creationId xmlns:a16="http://schemas.microsoft.com/office/drawing/2014/main" id="{85987084-1F9B-4BF2-BFFB-3495985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Vue 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学生与管理员</a:t>
            </a:r>
          </a:p>
        </p:txBody>
      </p:sp>
      <p:sp>
        <p:nvSpPr>
          <p:cNvPr id="6" name="FastAPI&#10;认证与业务服务">
            <a:extLst xmlns:a="http://schemas.openxmlformats.org/drawingml/2006/main">
              <a:ext uri="{FF2B5EF4-FFF2-40B4-BE49-F238E27FC236}">
                <a16:creationId xmlns:a16="http://schemas.microsoft.com/office/drawing/2014/main" id="{A7182A3D-18BB-41C2-888D-91DCC608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743075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FastAPI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认证与业务服务</a:t>
            </a:r>
          </a:p>
        </p:txBody>
      </p:sp>
      <p:sp>
        <p:nvSpPr>
          <p:cNvPr id="7" name="MySQL&#10;13张表">
            <a:extLst xmlns:a="http://schemas.openxmlformats.org/drawingml/2006/main">
              <a:ext uri="{FF2B5EF4-FFF2-40B4-BE49-F238E27FC236}">
                <a16:creationId xmlns:a16="http://schemas.microsoft.com/office/drawing/2014/main" id="{EBE1CB89-7F91-478E-8822-77EEBD73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43075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MySQL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13张表</a:t>
            </a:r>
          </a:p>
        </p:txBody>
      </p:sp>
      <p:sp>
        <p:nvSpPr>
          <p:cNvPr id="10" name="ODS&#10;8表分析字段快照">
            <a:extLst xmlns:a="http://schemas.openxmlformats.org/drawingml/2006/main">
              <a:ext uri="{FF2B5EF4-FFF2-40B4-BE49-F238E27FC236}">
                <a16:creationId xmlns:a16="http://schemas.microsoft.com/office/drawing/2014/main" id="{3B2B79A7-01DB-42AB-9357-8B93DF4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ODS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8表分析字段快照</a:t>
            </a:r>
          </a:p>
        </p:txBody>
      </p:sp>
      <p:sp>
        <p:nvSpPr>
          <p:cNvPr id="11" name="DWD&#10;清洗与进度派生">
            <a:extLst xmlns:a="http://schemas.openxmlformats.org/drawingml/2006/main">
              <a:ext uri="{FF2B5EF4-FFF2-40B4-BE49-F238E27FC236}">
                <a16:creationId xmlns:a16="http://schemas.microsoft.com/office/drawing/2014/main" id="{526EC7DF-2E2D-468A-917B-ABF96CF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81375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DWD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清洗与进度派生</a:t>
            </a:r>
          </a:p>
        </p:txBody>
      </p:sp>
      <p:sp>
        <p:nvSpPr>
          <p:cNvPr id="12" name="DWS逻辑聚合&#10;正式课程范围">
            <a:extLst xmlns:a="http://schemas.openxmlformats.org/drawingml/2006/main">
              <a:ext uri="{FF2B5EF4-FFF2-40B4-BE49-F238E27FC236}">
                <a16:creationId xmlns:a16="http://schemas.microsoft.com/office/drawing/2014/main" id="{8E636A95-B2EA-45F6-9722-27010EE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DWS逻辑聚合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正式课程范围</a:t>
            </a:r>
          </a:p>
        </p:txBody>
      </p:sp>
      <p:sp>
        <p:nvSpPr>
          <p:cNvPr id="13" name="ADS&#10;画像、推荐、看板">
            <a:extLst xmlns:a="http://schemas.openxmlformats.org/drawingml/2006/main">
              <a:ext uri="{FF2B5EF4-FFF2-40B4-BE49-F238E27FC236}">
                <a16:creationId xmlns:a16="http://schemas.microsoft.com/office/drawing/2014/main" id="{9D8A2C44-85C3-401A-80A5-DF588B60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24098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ADS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画像、推荐、看板</a:t>
            </a:r>
          </a:p>
        </p:txBody>
      </p:sp>
      <p:sp>
        <p:nvSpPr>
          <p:cNvPr id="18" name="MySQL分析投影进入ODS；结果校验后发布并保留">
            <a:extLst xmlns:a="http://schemas.openxmlformats.org/drawingml/2006/main">
              <a:ext uri="{FF2B5EF4-FFF2-40B4-BE49-F238E27FC236}">
                <a16:creationId xmlns:a16="http://schemas.microsoft.com/office/drawing/2014/main" id="{28876330-3FBF-4286-ADC9-A46F07BA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MySQL分析投影进入ODS；结果校验后发布并保留旧批次</a:t>
            </a:r>
          </a:p>
        </p:txBody>
      </p:sp>
      <p:sp>
        <p:nvSpPr>
          <p:cNvPr id="19" name="Spark 3.5.7 local[2]     ">
            <a:extLst xmlns:a="http://schemas.openxmlformats.org/drawingml/2006/main">
              <a:ext uri="{FF2B5EF4-FFF2-40B4-BE49-F238E27FC236}">
                <a16:creationId xmlns:a16="http://schemas.microsoft.com/office/drawing/2014/main" id="{9E726DBB-9C20-480C-B3A2-86712C3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Spark 3.5.7 local[2]     ODS、DWD、ADS实际落盘</a:t>
            </a:r>
          </a:p>
        </p:txBody>
      </p:sp>
    </p:spTree>
    <p:extLst>
      <p:ext uri="{BB962C8B-B14F-4D97-AF65-F5344CB8AC3E}">
        <p14:creationId xmlns:p14="http://schemas.microsoft.com/office/powerpoint/2010/main" val="1602838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验收证据与实现边界">
            <a:extLst xmlns:a="http://schemas.openxmlformats.org/drawingml/2006/main">
              <a:ext uri="{FF2B5EF4-FFF2-40B4-BE49-F238E27FC236}">
                <a16:creationId xmlns:a16="http://schemas.microsoft.com/office/drawing/2014/main" id="{5829FBF4-C45A-4E1D-8644-DEFBDFFA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验收证据与实现边界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02913-C9C3-421F-9B67-D094DB4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7B54243F-9F2F-4809-A6D5-346B3A7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10</a:t>
            </a:r>
          </a:p>
        </p:txBody>
      </p:sp>
      <p:sp>
        <p:nvSpPr>
          <p:cNvPr id="4" name="依据：认证、统一进度、正式课程范围及视频阶段验收报">
            <a:extLst xmlns:a="http://schemas.openxmlformats.org/drawingml/2006/main">
              <a:ext uri="{FF2B5EF4-FFF2-40B4-BE49-F238E27FC236}">
                <a16:creationId xmlns:a16="http://schemas.microsoft.com/office/drawing/2014/main" id="{78CF931B-F427-41B8-95E4-1E81D5B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依据：认证、统一进度、正式课程范围及视频阶段验收报告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676-AEEC-4E2E-B3B2-6E4268A1E8D6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210050"/>
                <a:gridCol w="4343400"/>
              </a:tblGrid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检查对象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已有证据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登录认证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12项隔离测试通过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真实账号未重置密码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正式视频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25通过，0缺失，0异常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本轮未重新全片播放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进度与统计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课程、画像、推荐、看板一致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新行为按后续批次更新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公开教育数据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原件核查与Spark对账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外部历史样本独立展示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6" name="功能验证不等于推荐效果、教学收益或集群性能评测">
            <a:extLst xmlns:a="http://schemas.openxmlformats.org/drawingml/2006/main">
              <a:ext uri="{FF2B5EF4-FFF2-40B4-BE49-F238E27FC236}">
                <a16:creationId xmlns:a16="http://schemas.microsoft.com/office/drawing/2014/main" id="{D96B50EB-24A7-4CA1-822F-7463757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功能验证不等于推荐效果、教学收益或集群性能评测</a:t>
            </a:r>
          </a:p>
        </p:txBody>
      </p:sp>
    </p:spTree>
    <p:extLst>
      <p:ext uri="{BB962C8B-B14F-4D97-AF65-F5344CB8AC3E}">
        <p14:creationId xmlns:p14="http://schemas.microsoft.com/office/powerpoint/2010/main" val="1552174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工作总结与后续方向">
            <a:extLst xmlns:a="http://schemas.openxmlformats.org/drawingml/2006/main">
              <a:ext uri="{FF2B5EF4-FFF2-40B4-BE49-F238E27FC236}">
                <a16:creationId xmlns:a16="http://schemas.microsoft.com/office/drawing/2014/main" id="{5E6BF0A3-8656-4EE4-A660-DB1DB09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工作总结与后续方向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BE74D-BC4B-43EF-AD29-89CB253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5A1A95FC-DB83-499A-A4C2-7BE05B52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11</a:t>
            </a:r>
          </a:p>
        </p:txBody>
      </p:sp>
      <p:sp>
        <p:nvSpPr>
          <p:cNvPr id="4" name="v1.1-defense-ready / 功能链路">
            <a:extLst xmlns:a="http://schemas.openxmlformats.org/drawingml/2006/main">
              <a:ext uri="{FF2B5EF4-FFF2-40B4-BE49-F238E27FC236}">
                <a16:creationId xmlns:a16="http://schemas.microsoft.com/office/drawing/2014/main" id="{1E03D45F-2ED8-4BCB-8BBF-F56507F2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v1.1-defense-ready / 功能链路与范围一致性已验收</a:t>
            </a:r>
          </a:p>
        </p:txBody>
      </p:sp>
      <p:sp>
        <p:nvSpPr>
          <p:cNvPr id="5" name="已完成">
            <a:extLst xmlns:a="http://schemas.openxmlformats.org/drawingml/2006/main">
              <a:ext uri="{FF2B5EF4-FFF2-40B4-BE49-F238E27FC236}">
                <a16:creationId xmlns:a16="http://schemas.microsoft.com/office/drawing/2014/main" id="{EBE22C06-DE56-4F11-827B-2610C344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已完成</a:t>
            </a:r>
          </a:p>
        </p:txBody>
      </p:sp>
      <p:sp>
        <p:nvSpPr>
          <p:cNvPr id="6" name="课程学习与行为采集&#10;画像推荐与管理分析&#10;章节进度、">
            <a:extLst xmlns:a="http://schemas.openxmlformats.org/drawingml/2006/main">
              <a:ext uri="{FF2B5EF4-FFF2-40B4-BE49-F238E27FC236}">
                <a16:creationId xmlns:a16="http://schemas.microsoft.com/office/drawing/2014/main" id="{1DAF74FE-4F89-4D9F-961D-B92BE725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219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课程学习与行为采集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画像推荐与管理分析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章节进度、正式范围和批次追溯</a:t>
            </a:r>
          </a:p>
        </p:txBody>
      </p:sp>
      <p:sp>
        <p:nvSpPr>
          <p:cNvPr id="7" name="后续方向">
            <a:extLst xmlns:a="http://schemas.openxmlformats.org/drawingml/2006/main">
              <a:ext uri="{FF2B5EF4-FFF2-40B4-BE49-F238E27FC236}">
                <a16:creationId xmlns:a16="http://schemas.microsoft.com/office/drawing/2014/main" id="{5AF08C1E-F677-43BB-B642-3615B16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192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后续方向</a:t>
            </a:r>
          </a:p>
        </p:txBody>
      </p:sp>
      <p:sp>
        <p:nvSpPr>
          <p:cNvPr id="8" name="真实试用与效果评价&#10;有效观看时长&#10;分布式部署验证">
            <a:extLst xmlns:a="http://schemas.openxmlformats.org/drawingml/2006/main">
              <a:ext uri="{FF2B5EF4-FFF2-40B4-BE49-F238E27FC236}">
                <a16:creationId xmlns:a16="http://schemas.microsoft.com/office/drawing/2014/main" id="{44611B2B-C904-4A00-9535-F8478FA2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4572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真实试用与效果评价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有效观看时长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分布式部署验证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78ED-794C-4D4B-869D-55F625D4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10" name="当前样本规模有限，系统采用单机离线处理">
            <a:extLst xmlns:a="http://schemas.openxmlformats.org/drawingml/2006/main">
              <a:ext uri="{FF2B5EF4-FFF2-40B4-BE49-F238E27FC236}">
                <a16:creationId xmlns:a16="http://schemas.microsoft.com/office/drawing/2014/main" id="{DD0D8BCF-A53C-4F9A-9635-02BA23C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当前样本规模有限，系统采用单机离线处理</a:t>
            </a:r>
          </a:p>
        </p:txBody>
      </p:sp>
      <p:sp>
        <p:nvSpPr>
          <p:cNvPr id="11" name="请各位老师批评指正">
            <a:extLst xmlns:a="http://schemas.openxmlformats.org/drawingml/2006/main">
              <a:ext uri="{FF2B5EF4-FFF2-40B4-BE49-F238E27FC236}">
                <a16:creationId xmlns:a16="http://schemas.microsoft.com/office/drawing/2014/main" id="{CC9763B2-6536-4DB0-A235-C722F98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8411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2026-10-24T15:03:00.0730000Z</dcterms:created>
  <dcterms:modified xsi:type="dcterms:W3CDTF">2026-10-24T15:03:00.0730000Z</dcterms:modified>
</coreProperties>
</file>